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1097280"/>
            <a:ext cx="3657600" cy="3657600"/>
          </a:xfrm>
          <a:prstGeom prst="ellipse">
            <a:avLst/>
          </a:prstGeom>
          <a:solidFill>
            <a:srgbClr val="1A56DB">
              <a:alpha val="25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863840" y="-274320"/>
            <a:ext cx="2011680" cy="2011680"/>
          </a:xfrm>
          <a:prstGeom prst="ellipse">
            <a:avLst/>
          </a:prstGeom>
          <a:solidFill>
            <a:srgbClr val="00C2FF">
              <a:alpha val="20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32004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SupportBot Studio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Customer Support Assistant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7772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Retrieval-Augmented Generation for grounded, document-anchored Q&amp;A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AML-3303  ·  RAG Customer Support Project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support has a knowledge problem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25880"/>
            <a:ext cx="64008" cy="1325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435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knowledge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764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FAQs, manuals &amp; policies spread across dozens of files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32588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46320" y="1325880"/>
            <a:ext cx="64008" cy="1325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0" y="143560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answers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029200" y="176479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depend on individual agents, not a source of truth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346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834640"/>
            <a:ext cx="64008" cy="1325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944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hallucinations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2735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LLMs cannot reliably answer company-specific questions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846320" y="2834640"/>
            <a:ext cx="402336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46320" y="2834640"/>
            <a:ext cx="64008" cy="13258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9443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 to scale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029200" y="327355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more agents is costly; automating without accuracy is risky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480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1A56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you let an AI answer customer questions accurately, using only your own documents?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Our Solution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answers from memory — it answers from your documents.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645920"/>
            <a:ext cx="1920240" cy="2377440"/>
          </a:xfrm>
          <a:prstGeom prst="rect">
            <a:avLst/>
          </a:prstGeom>
          <a:solidFill>
            <a:srgbClr val="1A2E6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7190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6334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upload FAQs, manuals, policies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834640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87168" y="1645920"/>
            <a:ext cx="1920240" cy="2377440"/>
          </a:xfrm>
          <a:prstGeom prst="rect">
            <a:avLst/>
          </a:prstGeom>
          <a:solidFill>
            <a:srgbClr val="1A2E6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87168" y="17190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487168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578608" y="26334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embeddings built from docs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407408" y="2834640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08576" y="1645920"/>
            <a:ext cx="1920240" cy="2377440"/>
          </a:xfrm>
          <a:prstGeom prst="rect">
            <a:avLst/>
          </a:prstGeom>
          <a:solidFill>
            <a:srgbClr val="1A2E6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08576" y="17190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08576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700016" y="26334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passages fetched at query time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28816" y="2834640"/>
            <a:ext cx="201168" cy="0"/>
          </a:xfrm>
          <a:prstGeom prst="line">
            <a:avLst/>
          </a:prstGeom>
          <a:noFill/>
          <a:ln w="19050">
            <a:solidFill>
              <a:srgbClr val="00C2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29984" y="1645920"/>
            <a:ext cx="1920240" cy="2377440"/>
          </a:xfrm>
          <a:prstGeom prst="rect">
            <a:avLst/>
          </a:prstGeom>
          <a:solidFill>
            <a:srgbClr val="1A2E6E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9984" y="1719072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729984" y="221284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821424" y="2633472"/>
            <a:ext cx="1737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answers only from retrieved context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hallucination  ·  Per-user document isolation  ·  Grounded answers only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1371600" cy="10058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270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11680" y="13258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1691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Dashboard · Chat UI · File Upload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42316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2423160"/>
            <a:ext cx="1371600" cy="1005840"/>
          </a:xfrm>
          <a:prstGeom prst="rect">
            <a:avLst/>
          </a:prstGeom>
          <a:solidFill>
            <a:srgbClr val="0D7C3D"/>
          </a:solidFill>
          <a:ln w="12700">
            <a:solidFill>
              <a:srgbClr val="0D7C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27157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01168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(Python)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011680" y="28803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· Doc Processor · RAG Engine · Chat API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61188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611880"/>
            <a:ext cx="1371600" cy="1005840"/>
          </a:xfrm>
          <a:prstGeom prst="rect">
            <a:avLst/>
          </a:prstGeom>
          <a:solidFill>
            <a:srgbClr val="7C3DAF"/>
          </a:solidFill>
          <a:ln w="12700">
            <a:solidFill>
              <a:srgbClr val="7C3DA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90448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011680" y="3703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· FAISS · OpenAI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11680" y="40690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DB · File Storage · Vector Store · LLM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470916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backend are fully decoupled — Streamlit is a thin REST client.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PIPELINE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10-Step RAG Pipeline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21792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Document Ingestion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Text Extraction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5603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Chunking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2461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792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Embeddings &amp; Vector Search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39319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Retrieval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09160" y="11887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73752" y="12801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Prompt Grounding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8745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3752" y="19659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Answer Generation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25603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73752" y="26517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Fallback Behaviour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9160" y="32461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3375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Conversation History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709160" y="3931920"/>
            <a:ext cx="4023360" cy="530352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73752" y="4023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Automated Processing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7A9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pipelines share one vector store  ·  Ingestion builds the index  ·  Query searches it at chat time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STEPS 1–3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Ingestion: upload → extract → chunk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234440"/>
            <a:ext cx="269748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618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5840" y="1344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Ingestion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30352" y="1965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Supported formats: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30352" y="24048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· TXT · JSON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30352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30352" y="32826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to disk → SQLite record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0352" y="3721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with is_embedded = 0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18688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1234440"/>
            <a:ext cx="269748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2618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858768" y="1344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Extraction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383280" y="1965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PDF: pypdf page-by-page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383280" y="24048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TXT: plain read()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0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JSON: json.dumps()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83280" y="32826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83280" y="3721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single raw string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071616" y="1234440"/>
            <a:ext cx="26974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71616" y="1234440"/>
            <a:ext cx="2697480" cy="59436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71616" y="1261872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6711696" y="134416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236208" y="1965960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500-char windows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36208" y="2404872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Processed independently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236208" y="2843784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236208" y="3282696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 chunks per 10-page doc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36208" y="3721608"/>
            <a:ext cx="2377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Smaller = more precise retrieval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STEPS 4–5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Embeddings &amp; vector retrieval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234440"/>
            <a:ext cx="3931920" cy="54864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98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Embeddings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94360" y="1920240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691640" y="19202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text-embedding-3-small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487168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691640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1536-dim float vector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" y="3054096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691640" y="3054096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FAISS IndexFlatL2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4360" y="3621024"/>
            <a:ext cx="1097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Isolation: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691640" y="3621024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username + filename tag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663440" y="1234440"/>
            <a:ext cx="402336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9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234440"/>
            <a:ext cx="4023360" cy="548640"/>
          </a:xfrm>
          <a:prstGeom prst="rect">
            <a:avLst/>
          </a:prstGeom>
          <a:solidFill>
            <a:srgbClr val="0D7C3D"/>
          </a:solidFill>
          <a:ln w="12700">
            <a:solidFill>
              <a:srgbClr val="0D7C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00600" y="129844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Retrieval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800600" y="1920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is embedded with same model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24871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FAISS exact L2 similarity search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800600" y="305409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30 candidates (k × 10)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00600" y="362102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to current user only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00600" y="41879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7C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  </a:t>
            </a:r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top 3 relevant chunks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STEPS 6–7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Grounding → Generation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5029200" cy="3017520"/>
          </a:xfrm>
          <a:prstGeom prst="rect">
            <a:avLst/>
          </a:prstGeom>
          <a:solidFill>
            <a:srgbClr val="0A1428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23444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7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System prompt constrains the LLM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157276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"system"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94360" y="190195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"Answer ONLY using the provided context."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2231136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"If context lacks the answer, say so."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889504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role: "user"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321868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"Context: {top_3_chunks}"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94360" y="354787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DD3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"Question: {user_question}"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760720" y="1188720"/>
            <a:ext cx="2926080" cy="749808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97880" y="12344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897880" y="15179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gpt-4o-mini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760720" y="2103120"/>
            <a:ext cx="2926080" cy="749808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9788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 window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97880" y="24323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3 retrieved chunks only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760720" y="3017520"/>
            <a:ext cx="2926080" cy="749808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97880" y="3063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guard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897880" y="33467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forbids out-of-context answers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760720" y="3931920"/>
            <a:ext cx="2926080" cy="749808"/>
          </a:xfrm>
          <a:prstGeom prst="rect">
            <a:avLst/>
          </a:prstGeom>
          <a:solidFill>
            <a:srgbClr val="1A2E6E"/>
          </a:solidFill>
          <a:ln w="6350">
            <a:solidFill>
              <a:srgbClr val="1A56D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397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Auditability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897880" y="4261104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ABD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is traceable to source docs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choices</a:t>
            </a:r>
            <a:endParaRPr lang="en-US" sz="3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34440"/>
          <a:ext cx="8229600" cy="3566160"/>
        </p:xfrm>
        <a:graphic>
          <a:graphicData uri="http://schemas.openxmlformats.org/drawingml/2006/table">
            <a:tbl>
              <a:tblPr/>
              <a:tblGrid>
                <a:gridCol w="1645920"/>
                <a:gridCol w="2286000"/>
                <a:gridCol w="429768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56D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Streamlit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 UI, auth screens, file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Flask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REST API &amp; request routing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text-embedding-3-small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1536-dim vector creation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gpt-4o-mini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Grounded answer generation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 Search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FAISS IndexFlatL2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Similarity search over embeddings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SQLite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Users, chat history, doc 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PDF Parsing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pypdf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 extraction from PDF files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E4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56D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hashlib SHA-256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7415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Password hashing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1D9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b="1" spc="300" kern="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FUTURE 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4114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F1E4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for SupportBot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840480" cy="49377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0" y="1234440"/>
            <a:ext cx="4114800" cy="49377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32588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FAISS index lost on restart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09160" y="13258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Persist with faiss.write_index or migrate to Chroma / Qdrant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3840480" cy="49377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0" y="1856232"/>
            <a:ext cx="4114800" cy="49377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94767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Fixed 500-char chunking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09160" y="1947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RecursiveCharacterTextSplitter for sentence-aware splits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478024"/>
            <a:ext cx="3840480" cy="49377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0" y="2478024"/>
            <a:ext cx="4114800" cy="49377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9464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conversation context in LLM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709160" y="2569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Include recent turns in prompt for follow-up coherence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099816"/>
            <a:ext cx="3840480" cy="49377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0" y="3099816"/>
            <a:ext cx="4114800" cy="49377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191256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SHA-256, no salt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09160" y="31912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Replace with bcrypt or argon2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721608"/>
            <a:ext cx="3840480" cy="49377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0" y="3721608"/>
            <a:ext cx="4114800" cy="49377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813048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token-based auth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09160" y="3813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Add JWT — username-as-param is spoofable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57200" y="4343400"/>
            <a:ext cx="3840480" cy="493776"/>
          </a:xfrm>
          <a:prstGeom prst="rect">
            <a:avLst/>
          </a:prstGeom>
          <a:solidFill>
            <a:srgbClr val="FEF2F2"/>
          </a:solidFill>
          <a:ln w="9525">
            <a:solidFill>
              <a:srgbClr val="FECAC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4343400"/>
            <a:ext cx="4114800" cy="493776"/>
          </a:xfrm>
          <a:prstGeom prst="rect">
            <a:avLst/>
          </a:prstGeom>
          <a:solidFill>
            <a:srgbClr val="F0FDF4"/>
          </a:solidFill>
          <a:ln w="9525">
            <a:solidFill>
              <a:srgbClr val="BBF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4434840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No source citation in answers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709160" y="4434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665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Surface source filename alongside each answer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105156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0" y="1051560"/>
            <a:ext cx="4114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Improvement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E4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3200400"/>
            <a:ext cx="3657600" cy="3657600"/>
          </a:xfrm>
          <a:prstGeom prst="ellipse">
            <a:avLst/>
          </a:prstGeom>
          <a:solidFill>
            <a:srgbClr val="1A56DB">
              <a:alpha val="20000"/>
            </a:srgbClr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00C2FF">
              <a:alpha val="15000"/>
            </a:srgbClr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663440"/>
            <a:ext cx="5486400" cy="73152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2148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SupportBot Studio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AABD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"The LLM never answers from memory — it answers from your documents."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7D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backend/  ·  frontend/  ·  chatbot_diagrams/  ·  report.md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SupportBot Studio</dc:title>
  <dc:subject>PptxGenJS Presentation</dc:subject>
  <dc:creator>AML-3303</dc:creator>
  <cp:lastModifiedBy>AML-3303</cp:lastModifiedBy>
  <cp:revision>1</cp:revision>
  <dcterms:created xsi:type="dcterms:W3CDTF">2026-04-16T11:39:05Z</dcterms:created>
  <dcterms:modified xsi:type="dcterms:W3CDTF">2026-04-16T11:39:05Z</dcterms:modified>
</cp:coreProperties>
</file>